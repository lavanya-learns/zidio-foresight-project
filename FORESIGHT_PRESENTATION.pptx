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18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  <Relationship Id="rId17" Type="http://schemas.openxmlformats.org/officeDocument/2006/relationships/slide" Target="slides/slide11.xml"/>
  <Relationship Id="rId18" Type="http://schemas.openxmlformats.org/officeDocument/2006/relationships/slide" Target="slides/slide12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Relationship Id="rId2" Type="http://schemas.openxmlformats.org/officeDocument/2006/relationships/image" Target="../media/zidio_logo.jpeg"/>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Relationship Id="rId2" Type="http://schemas.openxmlformats.org/officeDocument/2006/relationships/image" Target="../media/zidio_logo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3429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609600"/>
            <a:ext cx="6667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9FE2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COMPANY OVERVIEW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11658600" y="609600"/>
            <a:ext cx="571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FE2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 ANALYTICS REPORT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14400" y="952500"/>
            <a:ext cx="13335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Overview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914400" y="1809750"/>
            <a:ext cx="13335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D4EF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business metrics across 50 SKUs and 5 categories</a:t>
            </a:r>
            <a:endParaRPr lang="en-US" sz="1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71750"/>
            <a:ext cx="2552700" cy="16192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700" y="2571750"/>
            <a:ext cx="2552700" cy="161925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2571750"/>
            <a:ext cx="2552700" cy="161925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0" y="2571750"/>
            <a:ext cx="2552700" cy="1619250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39600" y="2571750"/>
            <a:ext cx="2552700" cy="1619250"/>
          </a:xfrm>
          <a:prstGeom prst="rect">
            <a:avLst/>
          </a:prstGeom>
        </p:spPr>
      </p:pic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20900" y="2571750"/>
            <a:ext cx="2552700" cy="1619250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1066800" y="2895600"/>
            <a:ext cx="22479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6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14" name="Text 5"/>
          <p:cNvSpPr/>
          <p:nvPr/>
        </p:nvSpPr>
        <p:spPr>
          <a:xfrm>
            <a:off x="3848100" y="2895600"/>
            <a:ext cx="22479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6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UNITS SOLD</a:t>
            </a:r>
            <a:endParaRPr lang="en-US" sz="1200" dirty="0"/>
          </a:p>
        </p:txBody>
      </p:sp>
      <p:sp>
        <p:nvSpPr>
          <p:cNvPr id="15" name="Text 6"/>
          <p:cNvSpPr/>
          <p:nvPr/>
        </p:nvSpPr>
        <p:spPr>
          <a:xfrm>
            <a:off x="6629400" y="2895600"/>
            <a:ext cx="22479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6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PROFIT</a:t>
            </a:r>
            <a:endParaRPr lang="en-US" sz="1200" dirty="0"/>
          </a:p>
        </p:txBody>
      </p:sp>
      <p:sp>
        <p:nvSpPr>
          <p:cNvPr id="16" name="Text 7"/>
          <p:cNvSpPr/>
          <p:nvPr/>
        </p:nvSpPr>
        <p:spPr>
          <a:xfrm>
            <a:off x="9410700" y="2895600"/>
            <a:ext cx="22479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EF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MARGIN</a:t>
            </a:r>
            <a:endParaRPr lang="en-US" sz="1200" dirty="0"/>
          </a:p>
        </p:txBody>
      </p:sp>
      <p:sp>
        <p:nvSpPr>
          <p:cNvPr id="17" name="Text 8"/>
          <p:cNvSpPr/>
          <p:nvPr/>
        </p:nvSpPr>
        <p:spPr>
          <a:xfrm>
            <a:off x="12192000" y="2895600"/>
            <a:ext cx="22479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6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SELLING PRICE</a:t>
            </a:r>
            <a:endParaRPr lang="en-US" sz="1200" dirty="0"/>
          </a:p>
        </p:txBody>
      </p:sp>
      <p:sp>
        <p:nvSpPr>
          <p:cNvPr id="18" name="Text 9"/>
          <p:cNvSpPr/>
          <p:nvPr/>
        </p:nvSpPr>
        <p:spPr>
          <a:xfrm>
            <a:off x="14973300" y="2895600"/>
            <a:ext cx="22479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6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SKUs</a:t>
            </a:r>
            <a:endParaRPr lang="en-US" sz="1200" dirty="0"/>
          </a:p>
        </p:txBody>
      </p:sp>
      <p:sp>
        <p:nvSpPr>
          <p:cNvPr id="19" name="Text 10"/>
          <p:cNvSpPr/>
          <p:nvPr/>
        </p:nvSpPr>
        <p:spPr>
          <a:xfrm>
            <a:off x="1066800" y="3295650"/>
            <a:ext cx="22860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2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₹3,096,056,707</a:t>
            </a:r>
            <a:endParaRPr lang="en-US" sz="2100" dirty="0"/>
          </a:p>
        </p:txBody>
      </p:sp>
      <p:sp>
        <p:nvSpPr>
          <p:cNvPr id="20" name="Text 11"/>
          <p:cNvSpPr/>
          <p:nvPr/>
        </p:nvSpPr>
        <p:spPr>
          <a:xfrm>
            <a:off x="3848100" y="3295650"/>
            <a:ext cx="22860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2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511,810</a:t>
            </a:r>
            <a:endParaRPr lang="en-US" sz="2100" dirty="0"/>
          </a:p>
        </p:txBody>
      </p:sp>
      <p:sp>
        <p:nvSpPr>
          <p:cNvPr id="21" name="Text 12"/>
          <p:cNvSpPr/>
          <p:nvPr/>
        </p:nvSpPr>
        <p:spPr>
          <a:xfrm>
            <a:off x="6629400" y="3295650"/>
            <a:ext cx="22860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2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₹1,220,903,237</a:t>
            </a:r>
            <a:endParaRPr lang="en-US" sz="2100" dirty="0"/>
          </a:p>
        </p:txBody>
      </p:sp>
      <p:sp>
        <p:nvSpPr>
          <p:cNvPr id="22" name="Text 13"/>
          <p:cNvSpPr/>
          <p:nvPr/>
        </p:nvSpPr>
        <p:spPr>
          <a:xfrm>
            <a:off x="9410700" y="3295650"/>
            <a:ext cx="22860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39.4%</a:t>
            </a:r>
            <a:endParaRPr lang="en-US" sz="2100" dirty="0"/>
          </a:p>
        </p:txBody>
      </p:sp>
      <p:sp>
        <p:nvSpPr>
          <p:cNvPr id="23" name="Text 14"/>
          <p:cNvSpPr/>
          <p:nvPr/>
        </p:nvSpPr>
        <p:spPr>
          <a:xfrm>
            <a:off x="12192000" y="3295650"/>
            <a:ext cx="22860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2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₹6,049</a:t>
            </a:r>
            <a:endParaRPr lang="en-US" sz="2100" dirty="0"/>
          </a:p>
        </p:txBody>
      </p:sp>
      <p:sp>
        <p:nvSpPr>
          <p:cNvPr id="24" name="Text 15"/>
          <p:cNvSpPr/>
          <p:nvPr/>
        </p:nvSpPr>
        <p:spPr>
          <a:xfrm>
            <a:off x="14973300" y="3295650"/>
            <a:ext cx="22860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2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21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572000"/>
            <a:ext cx="9829800" cy="5105400"/>
          </a:xfrm>
          <a:prstGeom prst="rect">
            <a:avLst/>
          </a:prstGeom>
        </p:spPr>
      </p:pic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72800" y="4572000"/>
            <a:ext cx="6400800" cy="51054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1295400" y="4914900"/>
            <a:ext cx="85725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2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by Category</a:t>
            </a:r>
            <a:endParaRPr lang="en-US" sz="2250" dirty="0"/>
          </a:p>
        </p:txBody>
      </p:sp>
      <p:sp>
        <p:nvSpPr>
          <p:cNvPr id="28" name="Text 17"/>
          <p:cNvSpPr/>
          <p:nvPr/>
        </p:nvSpPr>
        <p:spPr>
          <a:xfrm>
            <a:off x="1295400" y="5715000"/>
            <a:ext cx="2095500" cy="285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250000"/>
              </a:lnSpc>
              <a:buNone/>
            </a:pPr>
            <a:r>
              <a:rPr lang="en-US" sz="1800" dirty="0">
                <a:solidFill>
                  <a:srgbClr val="2E4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 Decor</a:t>
            </a:r>
            <a:endParaRPr lang="en-US" sz="1800" dirty="0"/>
          </a:p>
          <a:p>
            <a:pPr algn="l" indent="0" marL="0">
              <a:lnSpc>
                <a:spcPct val="250000"/>
              </a:lnSpc>
              <a:buNone/>
            </a:pPr>
            <a:r>
              <a:rPr lang="en-US" sz="1800" dirty="0">
                <a:solidFill>
                  <a:srgbClr val="2E4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Furniture</a:t>
            </a:r>
            <a:endParaRPr lang="en-US" sz="1800" dirty="0"/>
          </a:p>
          <a:p>
            <a:pPr algn="l" indent="0" marL="0">
              <a:lnSpc>
                <a:spcPct val="250000"/>
              </a:lnSpc>
              <a:buNone/>
            </a:pPr>
            <a:r>
              <a:rPr lang="en-US" sz="1800" dirty="0">
                <a:solidFill>
                  <a:srgbClr val="2E4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Storage</a:t>
            </a:r>
            <a:endParaRPr lang="en-US" sz="1800" dirty="0"/>
          </a:p>
          <a:p>
            <a:pPr algn="l" indent="0" marL="0">
              <a:lnSpc>
                <a:spcPct val="250000"/>
              </a:lnSpc>
              <a:buNone/>
            </a:pPr>
            <a:r>
              <a:rPr lang="en-US" sz="1800" dirty="0">
                <a:solidFill>
                  <a:srgbClr val="2E4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Kitchen</a:t>
            </a:r>
            <a:endParaRPr lang="en-US" sz="1800" dirty="0"/>
          </a:p>
          <a:p>
            <a:pPr algn="l" indent="0" marL="0">
              <a:lnSpc>
                <a:spcPct val="250000"/>
              </a:lnSpc>
              <a:buNone/>
            </a:pPr>
            <a:r>
              <a:rPr lang="en-US" sz="1800" dirty="0">
                <a:solidFill>
                  <a:srgbClr val="2E4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Lighting</a:t>
            </a:r>
            <a:endParaRPr lang="en-US" sz="18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9000" y="5829300"/>
            <a:ext cx="5334000" cy="262890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8915400" y="5715000"/>
            <a:ext cx="1447800" cy="285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250000"/>
              </a:lnSpc>
              <a:buNone/>
            </a:pPr>
            <a:r>
              <a:rPr lang="en-US" sz="1800" b="1" dirty="0">
                <a:solidFill>
                  <a:srgbClr val="0B2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₹888M</a:t>
            </a:r>
            <a:endParaRPr lang="en-US" sz="1800" dirty="0"/>
          </a:p>
          <a:p>
            <a:pPr algn="r" indent="0" marL="0">
              <a:lnSpc>
                <a:spcPct val="250000"/>
              </a:lnSpc>
              <a:buNone/>
            </a:pPr>
            <a:r>
              <a:rPr lang="en-US" sz="1800" b="1" dirty="0">
                <a:solidFill>
                  <a:srgbClr val="0B2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₹603M</a:t>
            </a:r>
            <a:endParaRPr lang="en-US" sz="1800" dirty="0"/>
          </a:p>
          <a:p>
            <a:pPr algn="r" indent="0" marL="0">
              <a:lnSpc>
                <a:spcPct val="250000"/>
              </a:lnSpc>
              <a:buNone/>
            </a:pPr>
            <a:r>
              <a:rPr lang="en-US" sz="1800" b="1" dirty="0">
                <a:solidFill>
                  <a:srgbClr val="0B2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₹582M</a:t>
            </a:r>
            <a:endParaRPr lang="en-US" sz="1800" dirty="0"/>
          </a:p>
          <a:p>
            <a:pPr algn="r" indent="0" marL="0">
              <a:lnSpc>
                <a:spcPct val="250000"/>
              </a:lnSpc>
              <a:buNone/>
            </a:pPr>
            <a:r>
              <a:rPr lang="en-US" sz="1800" b="1" dirty="0">
                <a:solidFill>
                  <a:srgbClr val="0B2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₹564M</a:t>
            </a:r>
            <a:endParaRPr lang="en-US" sz="1800" dirty="0"/>
          </a:p>
          <a:p>
            <a:pPr algn="r" indent="0" marL="0">
              <a:lnSpc>
                <a:spcPct val="250000"/>
              </a:lnSpc>
              <a:buNone/>
            </a:pPr>
            <a:r>
              <a:rPr lang="en-US" sz="1800" b="1" dirty="0">
                <a:solidFill>
                  <a:srgbClr val="0B2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₹459M</a:t>
            </a:r>
            <a:endParaRPr lang="en-US" sz="1800" dirty="0"/>
          </a:p>
        </p:txBody>
      </p:sp>
      <p:sp>
        <p:nvSpPr>
          <p:cNvPr id="31" name="Text 19"/>
          <p:cNvSpPr/>
          <p:nvPr/>
        </p:nvSpPr>
        <p:spPr>
          <a:xfrm>
            <a:off x="1295400" y="9029700"/>
            <a:ext cx="904875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8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 Decor leads with 28.7% of total revenue</a:t>
            </a:r>
            <a:endParaRPr lang="en-US" sz="1500" dirty="0"/>
          </a:p>
        </p:txBody>
      </p:sp>
      <p:sp>
        <p:nvSpPr>
          <p:cNvPr id="32" name="Text 20"/>
          <p:cNvSpPr/>
          <p:nvPr/>
        </p:nvSpPr>
        <p:spPr>
          <a:xfrm>
            <a:off x="11353800" y="4914900"/>
            <a:ext cx="57150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2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5 Products by Revenue</a:t>
            </a:r>
            <a:endParaRPr lang="en-US" sz="2250" dirty="0"/>
          </a:p>
        </p:txBody>
      </p:sp>
      <p:sp>
        <p:nvSpPr>
          <p:cNvPr id="33" name="Text 21"/>
          <p:cNvSpPr/>
          <p:nvPr/>
        </p:nvSpPr>
        <p:spPr>
          <a:xfrm>
            <a:off x="11353800" y="5715000"/>
            <a:ext cx="2286000" cy="285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250000"/>
              </a:lnSpc>
              <a:buNone/>
            </a:pPr>
            <a:r>
              <a:rPr lang="en-US" sz="1800" dirty="0">
                <a:solidFill>
                  <a:srgbClr val="2E4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Product 026</a:t>
            </a:r>
            <a:endParaRPr lang="en-US" sz="1800" dirty="0"/>
          </a:p>
          <a:p>
            <a:pPr algn="l" indent="0" marL="0">
              <a:lnSpc>
                <a:spcPct val="250000"/>
              </a:lnSpc>
              <a:buNone/>
            </a:pPr>
            <a:r>
              <a:rPr lang="en-US" sz="1800" dirty="0">
                <a:solidFill>
                  <a:srgbClr val="2E4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Product 035</a:t>
            </a:r>
            <a:endParaRPr lang="en-US" sz="1800" dirty="0"/>
          </a:p>
          <a:p>
            <a:pPr algn="l" indent="0" marL="0">
              <a:lnSpc>
                <a:spcPct val="250000"/>
              </a:lnSpc>
              <a:buNone/>
            </a:pPr>
            <a:r>
              <a:rPr lang="en-US" sz="1800" dirty="0">
                <a:solidFill>
                  <a:srgbClr val="2E4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Product 012</a:t>
            </a:r>
            <a:endParaRPr lang="en-US" sz="1800" dirty="0"/>
          </a:p>
          <a:p>
            <a:pPr algn="l" indent="0" marL="0">
              <a:lnSpc>
                <a:spcPct val="250000"/>
              </a:lnSpc>
              <a:buNone/>
            </a:pPr>
            <a:r>
              <a:rPr lang="en-US" sz="1800" dirty="0">
                <a:solidFill>
                  <a:srgbClr val="2E4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Product 042</a:t>
            </a:r>
            <a:endParaRPr lang="en-US" sz="1800" dirty="0"/>
          </a:p>
          <a:p>
            <a:pPr algn="l" indent="0" marL="0">
              <a:lnSpc>
                <a:spcPct val="250000"/>
              </a:lnSpc>
              <a:buNone/>
            </a:pPr>
            <a:r>
              <a:rPr lang="en-US" sz="1800" dirty="0">
                <a:solidFill>
                  <a:srgbClr val="2E4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 Product 027</a:t>
            </a:r>
            <a:endParaRPr lang="en-US" sz="1800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716000" y="5829300"/>
            <a:ext cx="1905000" cy="2628900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15773400" y="5715000"/>
            <a:ext cx="1219200" cy="285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250000"/>
              </a:lnSpc>
              <a:buNone/>
            </a:pPr>
            <a:r>
              <a:rPr lang="en-US" sz="1800" b="1" dirty="0">
                <a:solidFill>
                  <a:srgbClr val="0B2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₹181M</a:t>
            </a:r>
            <a:endParaRPr lang="en-US" sz="1800" dirty="0"/>
          </a:p>
          <a:p>
            <a:pPr algn="r" indent="0" marL="0">
              <a:lnSpc>
                <a:spcPct val="250000"/>
              </a:lnSpc>
              <a:buNone/>
            </a:pPr>
            <a:r>
              <a:rPr lang="en-US" sz="1800" b="1" dirty="0">
                <a:solidFill>
                  <a:srgbClr val="0B2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₹169M</a:t>
            </a:r>
            <a:endParaRPr lang="en-US" sz="1800" dirty="0"/>
          </a:p>
          <a:p>
            <a:pPr algn="r" indent="0" marL="0">
              <a:lnSpc>
                <a:spcPct val="250000"/>
              </a:lnSpc>
              <a:buNone/>
            </a:pPr>
            <a:r>
              <a:rPr lang="en-US" sz="1800" b="1" dirty="0">
                <a:solidFill>
                  <a:srgbClr val="0B2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₹167M</a:t>
            </a:r>
            <a:endParaRPr lang="en-US" sz="1800" dirty="0"/>
          </a:p>
          <a:p>
            <a:pPr algn="r" indent="0" marL="0">
              <a:lnSpc>
                <a:spcPct val="250000"/>
              </a:lnSpc>
              <a:buNone/>
            </a:pPr>
            <a:r>
              <a:rPr lang="en-US" sz="1800" b="1" dirty="0">
                <a:solidFill>
                  <a:srgbClr val="0B2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₹153M</a:t>
            </a:r>
            <a:endParaRPr lang="en-US" sz="1800" dirty="0"/>
          </a:p>
          <a:p>
            <a:pPr algn="r" indent="0" marL="0">
              <a:lnSpc>
                <a:spcPct val="250000"/>
              </a:lnSpc>
              <a:buNone/>
            </a:pPr>
            <a:r>
              <a:rPr lang="en-US" sz="1800" b="1" dirty="0">
                <a:solidFill>
                  <a:srgbClr val="0B2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₹151M</a:t>
            </a:r>
            <a:endParaRPr lang="en-US" sz="1800" dirty="0"/>
          </a:p>
        </p:txBody>
      </p:sp>
      <p:sp>
        <p:nvSpPr>
          <p:cNvPr id="36" name="Text 23"/>
          <p:cNvSpPr/>
          <p:nvPr/>
        </p:nvSpPr>
        <p:spPr>
          <a:xfrm>
            <a:off x="11353800" y="9029700"/>
            <a:ext cx="571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8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5 = ₹821M · 26.5% of revenue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3429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609600"/>
            <a:ext cx="6667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B5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SALES PERFORMANCE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11658600" y="609600"/>
            <a:ext cx="571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B5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 ANALYTICS REPORT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14400" y="952500"/>
            <a:ext cx="13335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2B2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Performance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914400" y="1809750"/>
            <a:ext cx="13335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4A3D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held flat year over year; Lamp and Cabinet lead subcategories</a:t>
            </a:r>
            <a:endParaRPr lang="en-US" sz="1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67000"/>
            <a:ext cx="5334000" cy="7010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3086100"/>
            <a:ext cx="44196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B5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YoY CHANGE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295400" y="3428999"/>
            <a:ext cx="47625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B42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-0.48%</a:t>
            </a:r>
            <a:endParaRPr lang="en-US" sz="5400" dirty="0"/>
          </a:p>
        </p:txBody>
      </p:sp>
      <p:sp>
        <p:nvSpPr>
          <p:cNvPr id="10" name="Text 6"/>
          <p:cNvSpPr/>
          <p:nvPr/>
        </p:nvSpPr>
        <p:spPr>
          <a:xfrm>
            <a:off x="1371600" y="5143500"/>
            <a:ext cx="4419600" cy="638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B2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Essentially flat: ₹1.55B in 2024 to ₹1.54B in 2025</a:t>
            </a:r>
            <a:endParaRPr lang="en-US" sz="1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6096000"/>
            <a:ext cx="3733800" cy="2667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85900" y="8915400"/>
            <a:ext cx="19050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B2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 · ₹1.55B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3695700" y="8915400"/>
            <a:ext cx="19050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B2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· ₹1.54B</a:t>
            </a:r>
            <a:endParaRPr lang="en-US" sz="16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2667000"/>
            <a:ext cx="10820400" cy="70104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34200" y="3009900"/>
            <a:ext cx="95250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B2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by Subcategory</a:t>
            </a:r>
            <a:endParaRPr lang="en-US" sz="2250" dirty="0"/>
          </a:p>
        </p:txBody>
      </p:sp>
      <p:sp>
        <p:nvSpPr>
          <p:cNvPr id="16" name="Text 10"/>
          <p:cNvSpPr/>
          <p:nvPr/>
        </p:nvSpPr>
        <p:spPr>
          <a:xfrm>
            <a:off x="6934200" y="3619500"/>
            <a:ext cx="1905000" cy="57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210000"/>
              </a:lnSpc>
              <a:buNone/>
            </a:pPr>
            <a:r>
              <a:rPr lang="en-US" sz="1800" dirty="0">
                <a:solidFill>
                  <a:srgbClr val="4A3D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Lamp</a:t>
            </a:r>
            <a:endParaRPr lang="en-US" sz="1800" dirty="0"/>
          </a:p>
          <a:p>
            <a:pPr algn="l" indent="0" marL="0">
              <a:lnSpc>
                <a:spcPct val="210000"/>
              </a:lnSpc>
              <a:buNone/>
            </a:pPr>
            <a:r>
              <a:rPr lang="en-US" sz="1800" dirty="0">
                <a:solidFill>
                  <a:srgbClr val="4A3D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Cabinet</a:t>
            </a:r>
            <a:endParaRPr lang="en-US" sz="1800" dirty="0"/>
          </a:p>
          <a:p>
            <a:pPr algn="l" indent="0" marL="0">
              <a:lnSpc>
                <a:spcPct val="210000"/>
              </a:lnSpc>
              <a:buNone/>
            </a:pPr>
            <a:r>
              <a:rPr lang="en-US" sz="1800" dirty="0">
                <a:solidFill>
                  <a:srgbClr val="4A3D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</a:t>
            </a:r>
            <a:endParaRPr lang="en-US" sz="1800" dirty="0"/>
          </a:p>
          <a:p>
            <a:pPr algn="l" indent="0" marL="0">
              <a:lnSpc>
                <a:spcPct val="210000"/>
              </a:lnSpc>
              <a:buNone/>
            </a:pPr>
            <a:r>
              <a:rPr lang="en-US" sz="1800" dirty="0">
                <a:solidFill>
                  <a:srgbClr val="4A3D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Organizer</a:t>
            </a:r>
            <a:endParaRPr lang="en-US" sz="1800" dirty="0"/>
          </a:p>
          <a:p>
            <a:pPr algn="l" indent="0" marL="0">
              <a:lnSpc>
                <a:spcPct val="210000"/>
              </a:lnSpc>
              <a:buNone/>
            </a:pPr>
            <a:r>
              <a:rPr lang="en-US" sz="1800" dirty="0">
                <a:solidFill>
                  <a:srgbClr val="4A3D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Shelf</a:t>
            </a:r>
            <a:endParaRPr lang="en-US" sz="1800" dirty="0"/>
          </a:p>
          <a:p>
            <a:pPr algn="l" indent="0" marL="0">
              <a:lnSpc>
                <a:spcPct val="210000"/>
              </a:lnSpc>
              <a:buNone/>
            </a:pPr>
            <a:r>
              <a:rPr lang="en-US" sz="1800" dirty="0">
                <a:solidFill>
                  <a:srgbClr val="4A3D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Cushion</a:t>
            </a:r>
            <a:endParaRPr lang="en-US" sz="1800" dirty="0"/>
          </a:p>
          <a:p>
            <a:pPr algn="l" indent="0" marL="0">
              <a:lnSpc>
                <a:spcPct val="210000"/>
              </a:lnSpc>
              <a:buNone/>
            </a:pPr>
            <a:r>
              <a:rPr lang="en-US" sz="1800" dirty="0">
                <a:solidFill>
                  <a:srgbClr val="4A3D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Chair</a:t>
            </a:r>
            <a:endParaRPr lang="en-US" sz="1800" dirty="0"/>
          </a:p>
          <a:p>
            <a:pPr algn="l" indent="0" marL="0">
              <a:lnSpc>
                <a:spcPct val="210000"/>
              </a:lnSpc>
              <a:buNone/>
            </a:pPr>
            <a:r>
              <a:rPr lang="en-US" sz="1800" dirty="0">
                <a:solidFill>
                  <a:srgbClr val="4A3D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Rug</a:t>
            </a:r>
            <a:endParaRPr lang="en-US" sz="1800" dirty="0"/>
          </a:p>
          <a:p>
            <a:pPr algn="l" indent="0" marL="0">
              <a:lnSpc>
                <a:spcPct val="210000"/>
              </a:lnSpc>
              <a:buNone/>
            </a:pPr>
            <a:r>
              <a:rPr lang="en-US" sz="1800" dirty="0">
                <a:solidFill>
                  <a:srgbClr val="4A3D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Cookware</a:t>
            </a:r>
            <a:endParaRPr lang="en-US" sz="1800" dirty="0"/>
          </a:p>
          <a:p>
            <a:pPr algn="l" indent="0" marL="0">
              <a:lnSpc>
                <a:spcPct val="210000"/>
              </a:lnSpc>
              <a:buNone/>
            </a:pPr>
            <a:r>
              <a:rPr lang="en-US" sz="1800" dirty="0">
                <a:solidFill>
                  <a:srgbClr val="4A3D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Sofa</a:t>
            </a:r>
            <a:endParaRPr lang="en-US" sz="18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00" y="3733800"/>
            <a:ext cx="6667500" cy="54864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5773400" y="3619500"/>
            <a:ext cx="1219200" cy="57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210000"/>
              </a:lnSpc>
              <a:buNone/>
            </a:pPr>
            <a:r>
              <a:rPr lang="en-US" sz="1800" b="1" dirty="0">
                <a:solidFill>
                  <a:srgbClr val="2B2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₹469M</a:t>
            </a:r>
            <a:endParaRPr lang="en-US" sz="1800" dirty="0"/>
          </a:p>
          <a:p>
            <a:pPr algn="r" indent="0" marL="0">
              <a:lnSpc>
                <a:spcPct val="210000"/>
              </a:lnSpc>
              <a:buNone/>
            </a:pPr>
            <a:r>
              <a:rPr lang="en-US" sz="1800" b="1" dirty="0">
                <a:solidFill>
                  <a:srgbClr val="2B2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₹468M</a:t>
            </a:r>
            <a:endParaRPr lang="en-US" sz="1800" dirty="0"/>
          </a:p>
          <a:p>
            <a:pPr algn="r" indent="0" marL="0">
              <a:lnSpc>
                <a:spcPct val="210000"/>
              </a:lnSpc>
              <a:buNone/>
            </a:pPr>
            <a:r>
              <a:rPr lang="en-US" sz="1800" b="1" dirty="0">
                <a:solidFill>
                  <a:srgbClr val="2B2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₹421M</a:t>
            </a:r>
            <a:endParaRPr lang="en-US" sz="1800" dirty="0"/>
          </a:p>
          <a:p>
            <a:pPr algn="r" indent="0" marL="0">
              <a:lnSpc>
                <a:spcPct val="210000"/>
              </a:lnSpc>
              <a:buNone/>
            </a:pPr>
            <a:r>
              <a:rPr lang="en-US" sz="1800" b="1" dirty="0">
                <a:solidFill>
                  <a:srgbClr val="2B2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₹322M</a:t>
            </a:r>
            <a:endParaRPr lang="en-US" sz="1800" dirty="0"/>
          </a:p>
          <a:p>
            <a:pPr algn="r" indent="0" marL="0">
              <a:lnSpc>
                <a:spcPct val="210000"/>
              </a:lnSpc>
              <a:buNone/>
            </a:pPr>
            <a:r>
              <a:rPr lang="en-US" sz="1800" b="1" dirty="0">
                <a:solidFill>
                  <a:srgbClr val="2B2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₹310M</a:t>
            </a:r>
            <a:endParaRPr lang="en-US" sz="1800" dirty="0"/>
          </a:p>
          <a:p>
            <a:pPr algn="r" indent="0" marL="0">
              <a:lnSpc>
                <a:spcPct val="210000"/>
              </a:lnSpc>
              <a:buNone/>
            </a:pPr>
            <a:r>
              <a:rPr lang="en-US" sz="1800" b="1" dirty="0">
                <a:solidFill>
                  <a:srgbClr val="2B2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₹298M</a:t>
            </a:r>
            <a:endParaRPr lang="en-US" sz="1800" dirty="0"/>
          </a:p>
          <a:p>
            <a:pPr algn="r" indent="0" marL="0">
              <a:lnSpc>
                <a:spcPct val="210000"/>
              </a:lnSpc>
              <a:buNone/>
            </a:pPr>
            <a:r>
              <a:rPr lang="en-US" sz="1800" b="1" dirty="0">
                <a:solidFill>
                  <a:srgbClr val="2B2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₹293M</a:t>
            </a:r>
            <a:endParaRPr lang="en-US" sz="1800" dirty="0"/>
          </a:p>
          <a:p>
            <a:pPr algn="r" indent="0" marL="0">
              <a:lnSpc>
                <a:spcPct val="210000"/>
              </a:lnSpc>
              <a:buNone/>
            </a:pPr>
            <a:r>
              <a:rPr lang="en-US" sz="1800" b="1" dirty="0">
                <a:solidFill>
                  <a:srgbClr val="2B2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₹266M</a:t>
            </a:r>
            <a:endParaRPr lang="en-US" sz="1800" dirty="0"/>
          </a:p>
          <a:p>
            <a:pPr algn="r" indent="0" marL="0">
              <a:lnSpc>
                <a:spcPct val="210000"/>
              </a:lnSpc>
              <a:buNone/>
            </a:pPr>
            <a:r>
              <a:rPr lang="en-US" sz="1800" b="1" dirty="0">
                <a:solidFill>
                  <a:srgbClr val="2B2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₹137M</a:t>
            </a:r>
            <a:endParaRPr lang="en-US" sz="1800" dirty="0"/>
          </a:p>
          <a:p>
            <a:pPr algn="r" indent="0" marL="0">
              <a:lnSpc>
                <a:spcPct val="210000"/>
              </a:lnSpc>
              <a:buNone/>
            </a:pPr>
            <a:r>
              <a:rPr lang="en-US" sz="1800" b="1" dirty="0">
                <a:solidFill>
                  <a:srgbClr val="2B2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₹113M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3429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609600"/>
            <a:ext cx="6667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D3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CATEGORY PERFORMANCE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11658600" y="609600"/>
            <a:ext cx="571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B9D3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 ANALYTICS REPORT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14400" y="952500"/>
            <a:ext cx="13335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Performance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914400" y="1809750"/>
            <a:ext cx="13335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DCE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Units sold by category — volume contribution to total sales</a:t>
            </a:r>
            <a:endParaRPr lang="en-US" sz="1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67000"/>
            <a:ext cx="5334000" cy="7010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3086100"/>
            <a:ext cx="44196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5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 CATEGORY BY UNITS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371600" y="3486150"/>
            <a:ext cx="4419600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0B1F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 Decor</a:t>
            </a:r>
            <a:endParaRPr lang="en-US" sz="4200" dirty="0"/>
          </a:p>
        </p:txBody>
      </p:sp>
      <p:sp>
        <p:nvSpPr>
          <p:cNvPr id="10" name="Text 6"/>
          <p:cNvSpPr/>
          <p:nvPr/>
        </p:nvSpPr>
        <p:spPr>
          <a:xfrm>
            <a:off x="1333500" y="4286250"/>
            <a:ext cx="4572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1F5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132,570</a:t>
            </a:r>
            <a:endParaRPr lang="en-US" sz="6000" dirty="0"/>
          </a:p>
        </p:txBody>
      </p:sp>
      <p:sp>
        <p:nvSpPr>
          <p:cNvPr id="11" name="Text 7"/>
          <p:cNvSpPr/>
          <p:nvPr/>
        </p:nvSpPr>
        <p:spPr>
          <a:xfrm>
            <a:off x="1371600" y="5638800"/>
            <a:ext cx="441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45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units sold · 25.9% of total volume</a:t>
            </a:r>
            <a:endParaRPr lang="en-US" sz="18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6572250"/>
            <a:ext cx="4419600" cy="190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6953250"/>
            <a:ext cx="44196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5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UNITS SOLD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371600" y="7315200"/>
            <a:ext cx="44196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0B1F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511,810</a:t>
            </a:r>
            <a:endParaRPr lang="en-US" sz="4800" dirty="0"/>
          </a:p>
        </p:txBody>
      </p:sp>
      <p:sp>
        <p:nvSpPr>
          <p:cNvPr id="15" name="Text 10"/>
          <p:cNvSpPr/>
          <p:nvPr/>
        </p:nvSpPr>
        <p:spPr>
          <a:xfrm>
            <a:off x="1371600" y="8191500"/>
            <a:ext cx="4419600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45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Balanced mix — every category holds 16–26% of volume</a:t>
            </a:r>
            <a:endParaRPr lang="en-US" sz="16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2667000"/>
            <a:ext cx="10820400" cy="70104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34200" y="3048000"/>
            <a:ext cx="95250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Units Sold by Category</a:t>
            </a:r>
            <a:endParaRPr lang="en-US" sz="2250" dirty="0"/>
          </a:p>
        </p:txBody>
      </p:sp>
      <p:sp>
        <p:nvSpPr>
          <p:cNvPr id="18" name="Text 12"/>
          <p:cNvSpPr/>
          <p:nvPr/>
        </p:nvSpPr>
        <p:spPr>
          <a:xfrm>
            <a:off x="6934200" y="4000500"/>
            <a:ext cx="2095500" cy="3333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250000"/>
              </a:lnSpc>
              <a:buNone/>
            </a:pPr>
            <a:r>
              <a:rPr lang="en-US" sz="2100" dirty="0">
                <a:solidFill>
                  <a:srgbClr val="345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 Decor</a:t>
            </a:r>
            <a:endParaRPr lang="en-US" sz="2100" dirty="0"/>
          </a:p>
          <a:p>
            <a:pPr algn="l" indent="0" marL="0">
              <a:lnSpc>
                <a:spcPct val="250000"/>
              </a:lnSpc>
              <a:buNone/>
            </a:pPr>
            <a:r>
              <a:rPr lang="en-US" sz="2100" dirty="0">
                <a:solidFill>
                  <a:srgbClr val="345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Lighting</a:t>
            </a:r>
            <a:endParaRPr lang="en-US" sz="2100" dirty="0"/>
          </a:p>
          <a:p>
            <a:pPr algn="l" indent="0" marL="0">
              <a:lnSpc>
                <a:spcPct val="250000"/>
              </a:lnSpc>
              <a:buNone/>
            </a:pPr>
            <a:r>
              <a:rPr lang="en-US" sz="2100" dirty="0">
                <a:solidFill>
                  <a:srgbClr val="345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Kitchen</a:t>
            </a:r>
            <a:endParaRPr lang="en-US" sz="2100" dirty="0"/>
          </a:p>
          <a:p>
            <a:pPr algn="l" indent="0" marL="0">
              <a:lnSpc>
                <a:spcPct val="250000"/>
              </a:lnSpc>
              <a:buNone/>
            </a:pPr>
            <a:r>
              <a:rPr lang="en-US" sz="2100" dirty="0">
                <a:solidFill>
                  <a:srgbClr val="345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Storage</a:t>
            </a:r>
            <a:endParaRPr lang="en-US" sz="2100" dirty="0"/>
          </a:p>
          <a:p>
            <a:pPr algn="l" indent="0" marL="0">
              <a:lnSpc>
                <a:spcPct val="250000"/>
              </a:lnSpc>
              <a:buNone/>
            </a:pPr>
            <a:r>
              <a:rPr lang="en-US" sz="2100" dirty="0">
                <a:solidFill>
                  <a:srgbClr val="345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Furniture</a:t>
            </a:r>
            <a:endParaRPr lang="en-US" sz="21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4143375"/>
            <a:ext cx="5334000" cy="30480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668500" y="4000500"/>
            <a:ext cx="2324100" cy="3333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250000"/>
              </a:lnSpc>
              <a:buNone/>
            </a:pPr>
            <a:r>
              <a:rPr lang="en-US" sz="2100" b="1" dirty="0">
                <a:solidFill>
                  <a:srgbClr val="0B1F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132,570</a:t>
            </a:r>
            <a:endParaRPr lang="en-US" sz="2100" dirty="0"/>
          </a:p>
          <a:p>
            <a:pPr algn="r" indent="0" marL="0">
              <a:lnSpc>
                <a:spcPct val="250000"/>
              </a:lnSpc>
              <a:buNone/>
            </a:pPr>
            <a:r>
              <a:rPr lang="en-US" sz="2100" b="1" dirty="0">
                <a:solidFill>
                  <a:srgbClr val="0B1F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102,431</a:t>
            </a:r>
            <a:endParaRPr lang="en-US" sz="2100" dirty="0"/>
          </a:p>
          <a:p>
            <a:pPr algn="r" indent="0" marL="0">
              <a:lnSpc>
                <a:spcPct val="250000"/>
              </a:lnSpc>
              <a:buNone/>
            </a:pPr>
            <a:r>
              <a:rPr lang="en-US" sz="2100" b="1" dirty="0">
                <a:solidFill>
                  <a:srgbClr val="0B1F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101,144</a:t>
            </a:r>
            <a:endParaRPr lang="en-US" sz="2100" dirty="0"/>
          </a:p>
          <a:p>
            <a:pPr algn="r" indent="0" marL="0">
              <a:lnSpc>
                <a:spcPct val="250000"/>
              </a:lnSpc>
              <a:buNone/>
            </a:pPr>
            <a:r>
              <a:rPr lang="en-US" sz="2100" b="1" dirty="0">
                <a:solidFill>
                  <a:srgbClr val="0B1F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93,367</a:t>
            </a:r>
            <a:endParaRPr lang="en-US" sz="2100" dirty="0"/>
          </a:p>
          <a:p>
            <a:pPr algn="r" indent="0" marL="0">
              <a:lnSpc>
                <a:spcPct val="250000"/>
              </a:lnSpc>
              <a:buNone/>
            </a:pPr>
            <a:r>
              <a:rPr lang="en-US" sz="2100" b="1" dirty="0">
                <a:solidFill>
                  <a:srgbClr val="0B1F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82,298</a:t>
            </a:r>
            <a:endParaRPr lang="en-US" sz="2100" dirty="0"/>
          </a:p>
        </p:txBody>
      </p:sp>
      <p:sp>
        <p:nvSpPr>
          <p:cNvPr id="21" name="Text 14"/>
          <p:cNvSpPr/>
          <p:nvPr/>
        </p:nvSpPr>
        <p:spPr>
          <a:xfrm>
            <a:off x="6934200" y="8191500"/>
            <a:ext cx="100584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F5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 Decor outsells the lowest-volume category, Furniture, by 50,272 units (+61%).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3429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609600"/>
            <a:ext cx="6667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B5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SEASONALITY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11658600" y="609600"/>
            <a:ext cx="571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B5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 ANALYTICS REPORT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14400" y="952500"/>
            <a:ext cx="13335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2B2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Seasonality &amp; Demand Timing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914400" y="1809750"/>
            <a:ext cx="13335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4A3D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Winter peaks, Autumn dips — and weekdays carry two-thirds of volume</a:t>
            </a:r>
            <a:endParaRPr lang="en-US" sz="1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67000"/>
            <a:ext cx="9829800" cy="7010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5400" y="3048000"/>
            <a:ext cx="85725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B2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Units Sold by Season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1295400" y="4000500"/>
            <a:ext cx="1905000" cy="3333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250000"/>
              </a:lnSpc>
              <a:buNone/>
            </a:pPr>
            <a:r>
              <a:rPr lang="en-US" sz="2100" dirty="0">
                <a:solidFill>
                  <a:srgbClr val="4A3D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Winter</a:t>
            </a:r>
            <a:endParaRPr lang="en-US" sz="2100" dirty="0"/>
          </a:p>
          <a:p>
            <a:pPr algn="l" indent="0" marL="0">
              <a:lnSpc>
                <a:spcPct val="250000"/>
              </a:lnSpc>
              <a:buNone/>
            </a:pPr>
            <a:r>
              <a:rPr lang="en-US" sz="2100" dirty="0">
                <a:solidFill>
                  <a:srgbClr val="4A3D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Monsoon</a:t>
            </a:r>
            <a:endParaRPr lang="en-US" sz="2100" dirty="0"/>
          </a:p>
          <a:p>
            <a:pPr algn="l" indent="0" marL="0">
              <a:lnSpc>
                <a:spcPct val="250000"/>
              </a:lnSpc>
              <a:buNone/>
            </a:pPr>
            <a:r>
              <a:rPr lang="en-US" sz="2100" dirty="0">
                <a:solidFill>
                  <a:srgbClr val="4A3D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</a:t>
            </a:r>
            <a:endParaRPr lang="en-US" sz="2100" dirty="0"/>
          </a:p>
          <a:p>
            <a:pPr algn="l" indent="0" marL="0">
              <a:lnSpc>
                <a:spcPct val="250000"/>
              </a:lnSpc>
              <a:buNone/>
            </a:pPr>
            <a:r>
              <a:rPr lang="en-US" sz="2100" dirty="0">
                <a:solidFill>
                  <a:srgbClr val="4A3D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Summer</a:t>
            </a:r>
            <a:endParaRPr lang="en-US" sz="2100" dirty="0"/>
          </a:p>
          <a:p>
            <a:pPr algn="l" indent="0" marL="0">
              <a:lnSpc>
                <a:spcPct val="250000"/>
              </a:lnSpc>
              <a:buNone/>
            </a:pPr>
            <a:r>
              <a:rPr lang="en-US" sz="2100" dirty="0">
                <a:solidFill>
                  <a:srgbClr val="4A3D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Autumn</a:t>
            </a:r>
            <a:endParaRPr lang="en-US" sz="2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4143375"/>
            <a:ext cx="4953000" cy="3048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34400" y="4000500"/>
            <a:ext cx="1828800" cy="3333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250000"/>
              </a:lnSpc>
              <a:buNone/>
            </a:pPr>
            <a:r>
              <a:rPr lang="en-US" sz="2100" b="1" dirty="0">
                <a:solidFill>
                  <a:srgbClr val="2B2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122,704</a:t>
            </a:r>
            <a:endParaRPr lang="en-US" sz="2100" dirty="0"/>
          </a:p>
          <a:p>
            <a:pPr algn="r" indent="0" marL="0">
              <a:lnSpc>
                <a:spcPct val="250000"/>
              </a:lnSpc>
              <a:buNone/>
            </a:pPr>
            <a:r>
              <a:rPr lang="en-US" sz="2100" b="1" dirty="0">
                <a:solidFill>
                  <a:srgbClr val="2B2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118,001</a:t>
            </a:r>
            <a:endParaRPr lang="en-US" sz="2100" dirty="0"/>
          </a:p>
          <a:p>
            <a:pPr algn="r" indent="0" marL="0">
              <a:lnSpc>
                <a:spcPct val="250000"/>
              </a:lnSpc>
              <a:buNone/>
            </a:pPr>
            <a:r>
              <a:rPr lang="en-US" sz="2100" b="1" dirty="0">
                <a:solidFill>
                  <a:srgbClr val="2B2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101,684</a:t>
            </a:r>
            <a:endParaRPr lang="en-US" sz="2100" dirty="0"/>
          </a:p>
          <a:p>
            <a:pPr algn="r" indent="0" marL="0">
              <a:lnSpc>
                <a:spcPct val="250000"/>
              </a:lnSpc>
              <a:buNone/>
            </a:pPr>
            <a:r>
              <a:rPr lang="en-US" sz="2100" b="1" dirty="0">
                <a:solidFill>
                  <a:srgbClr val="2B2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97,654</a:t>
            </a:r>
            <a:endParaRPr lang="en-US" sz="2100" dirty="0"/>
          </a:p>
          <a:p>
            <a:pPr algn="r" indent="0" marL="0">
              <a:lnSpc>
                <a:spcPct val="250000"/>
              </a:lnSpc>
              <a:buNone/>
            </a:pPr>
            <a:r>
              <a:rPr lang="en-US" sz="2100" b="1" dirty="0">
                <a:solidFill>
                  <a:srgbClr val="2B2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71,767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1295400" y="8191500"/>
            <a:ext cx="90678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9A7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Winter is the peak season at 122,704 units — 71% above Autumn.</a:t>
            </a:r>
            <a:endParaRPr lang="en-US" sz="1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9000" y="2667000"/>
            <a:ext cx="6324600" cy="2133600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000" y="5105400"/>
            <a:ext cx="6324600" cy="2133600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9000" y="7543800"/>
            <a:ext cx="6324600" cy="21336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1430000" y="2971800"/>
            <a:ext cx="55626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9A7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HOLIDAY vs NON-HOLIDAY UNITS</a:t>
            </a:r>
            <a:endParaRPr lang="en-US" sz="1275" dirty="0"/>
          </a:p>
        </p:txBody>
      </p:sp>
      <p:sp>
        <p:nvSpPr>
          <p:cNvPr id="17" name="Text 9"/>
          <p:cNvSpPr/>
          <p:nvPr/>
        </p:nvSpPr>
        <p:spPr>
          <a:xfrm>
            <a:off x="11430000" y="3333750"/>
            <a:ext cx="5562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B2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4,864 vs 506,946</a:t>
            </a:r>
            <a:endParaRPr lang="en-US" sz="3600" dirty="0"/>
          </a:p>
        </p:txBody>
      </p:sp>
      <p:sp>
        <p:nvSpPr>
          <p:cNvPr id="18" name="Text 10"/>
          <p:cNvSpPr/>
          <p:nvPr/>
        </p:nvSpPr>
        <p:spPr>
          <a:xfrm>
            <a:off x="11430000" y="4076700"/>
            <a:ext cx="55626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4A3D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Holiday days drive under 1% of units</a:t>
            </a:r>
            <a:endParaRPr lang="en-US" sz="1650" dirty="0"/>
          </a:p>
        </p:txBody>
      </p:sp>
      <p:sp>
        <p:nvSpPr>
          <p:cNvPr id="19" name="Text 11"/>
          <p:cNvSpPr/>
          <p:nvPr/>
        </p:nvSpPr>
        <p:spPr>
          <a:xfrm>
            <a:off x="11430000" y="5410200"/>
            <a:ext cx="55626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9A7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WEEKEND vs WEEKDAY UNITS</a:t>
            </a:r>
            <a:endParaRPr lang="en-US" sz="1275" dirty="0"/>
          </a:p>
        </p:txBody>
      </p:sp>
      <p:sp>
        <p:nvSpPr>
          <p:cNvPr id="20" name="Text 12"/>
          <p:cNvSpPr/>
          <p:nvPr/>
        </p:nvSpPr>
        <p:spPr>
          <a:xfrm>
            <a:off x="11430000" y="5772150"/>
            <a:ext cx="5562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B2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169,827 vs 341,983</a:t>
            </a:r>
            <a:endParaRPr lang="en-US" sz="3600" dirty="0"/>
          </a:p>
        </p:txBody>
      </p:sp>
      <p:sp>
        <p:nvSpPr>
          <p:cNvPr id="21" name="Text 13"/>
          <p:cNvSpPr/>
          <p:nvPr/>
        </p:nvSpPr>
        <p:spPr>
          <a:xfrm>
            <a:off x="11430000" y="6515100"/>
            <a:ext cx="55626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4A3D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Weekends deliver 33.2% of units</a:t>
            </a:r>
            <a:endParaRPr lang="en-US" sz="1650" dirty="0"/>
          </a:p>
        </p:txBody>
      </p:sp>
      <p:sp>
        <p:nvSpPr>
          <p:cNvPr id="22" name="Text 14"/>
          <p:cNvSpPr/>
          <p:nvPr/>
        </p:nvSpPr>
        <p:spPr>
          <a:xfrm>
            <a:off x="11430000" y="7848600"/>
            <a:ext cx="55626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7C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WEEKLY DEMAND</a:t>
            </a:r>
            <a:endParaRPr lang="en-US" sz="1275" dirty="0"/>
          </a:p>
        </p:txBody>
      </p:sp>
      <p:sp>
        <p:nvSpPr>
          <p:cNvPr id="23" name="Text 15"/>
          <p:cNvSpPr/>
          <p:nvPr/>
        </p:nvSpPr>
        <p:spPr>
          <a:xfrm>
            <a:off x="11430000" y="8210550"/>
            <a:ext cx="5562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510,082 units</a:t>
            </a:r>
            <a:endParaRPr lang="en-US" sz="3600" dirty="0"/>
          </a:p>
        </p:txBody>
      </p:sp>
      <p:sp>
        <p:nvSpPr>
          <p:cNvPr id="24" name="Text 16"/>
          <p:cNvSpPr/>
          <p:nvPr/>
        </p:nvSpPr>
        <p:spPr>
          <a:xfrm>
            <a:off x="11430000" y="8953500"/>
            <a:ext cx="55626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F7E3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week: 6,076 units · week of 2024-03-17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3429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609600"/>
            <a:ext cx="6667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C4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PROMOTION ANALYSIS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11658600" y="609600"/>
            <a:ext cx="571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C4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 ANALYTICS REPORT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14400" y="952500"/>
            <a:ext cx="13335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2B2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Promotion Analysis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914400" y="1809750"/>
            <a:ext cx="13335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4A3D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Promotions lift daily unit velocity by more than a third</a:t>
            </a:r>
            <a:endParaRPr lang="en-US" sz="1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67000"/>
            <a:ext cx="5334000" cy="7010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3086100"/>
            <a:ext cx="44196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5C5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 UPLIFT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295400" y="3752850"/>
            <a:ext cx="47625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5C5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+38.1%</a:t>
            </a:r>
            <a:endParaRPr lang="en-US" sz="5400" dirty="0"/>
          </a:p>
        </p:txBody>
      </p:sp>
      <p:sp>
        <p:nvSpPr>
          <p:cNvPr id="10" name="Text 6"/>
          <p:cNvSpPr/>
          <p:nvPr/>
        </p:nvSpPr>
        <p:spPr>
          <a:xfrm>
            <a:off x="1371600" y="5200650"/>
            <a:ext cx="441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7E3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average daily units sold</a:t>
            </a:r>
            <a:endParaRPr lang="en-US" sz="1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6096000"/>
            <a:ext cx="4419600" cy="190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6515100"/>
            <a:ext cx="20955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18.61</a:t>
            </a:r>
            <a:endParaRPr lang="en-US" sz="4400" dirty="0"/>
          </a:p>
        </p:txBody>
      </p:sp>
      <p:sp>
        <p:nvSpPr>
          <p:cNvPr id="13" name="Text 8"/>
          <p:cNvSpPr/>
          <p:nvPr/>
        </p:nvSpPr>
        <p:spPr>
          <a:xfrm>
            <a:off x="3695700" y="6515100"/>
            <a:ext cx="20955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9A8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13.48</a:t>
            </a:r>
            <a:endParaRPr lang="en-US" sz="4400" dirty="0"/>
          </a:p>
        </p:txBody>
      </p:sp>
      <p:sp>
        <p:nvSpPr>
          <p:cNvPr id="14" name="Text 9"/>
          <p:cNvSpPr/>
          <p:nvPr/>
        </p:nvSpPr>
        <p:spPr>
          <a:xfrm>
            <a:off x="1371600" y="7467600"/>
            <a:ext cx="20955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7E3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daily units on promo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695700" y="7467600"/>
            <a:ext cx="20955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BC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daily units non-promo</a:t>
            </a:r>
            <a:endParaRPr lang="en-US" sz="15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2667000"/>
            <a:ext cx="10820400" cy="2133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34200" y="2952750"/>
            <a:ext cx="47625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9A7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1275" dirty="0"/>
          </a:p>
        </p:txBody>
      </p:sp>
      <p:sp>
        <p:nvSpPr>
          <p:cNvPr id="18" name="Text 12"/>
          <p:cNvSpPr/>
          <p:nvPr/>
        </p:nvSpPr>
        <p:spPr>
          <a:xfrm>
            <a:off x="6934200" y="3295650"/>
            <a:ext cx="4953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 ₹421M</a:t>
            </a:r>
            <a:endParaRPr lang="en-US" sz="3000" dirty="0"/>
          </a:p>
        </p:txBody>
      </p:sp>
      <p:sp>
        <p:nvSpPr>
          <p:cNvPr id="19" name="Text 13"/>
          <p:cNvSpPr/>
          <p:nvPr/>
        </p:nvSpPr>
        <p:spPr>
          <a:xfrm>
            <a:off x="12039600" y="3295650"/>
            <a:ext cx="4953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6B5E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Non-promo ₹2,675M</a:t>
            </a:r>
            <a:endParaRPr lang="en-US" sz="3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200" y="4038600"/>
            <a:ext cx="10058400" cy="41910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200" y="5105400"/>
            <a:ext cx="10820400" cy="2133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34200" y="5391150"/>
            <a:ext cx="47625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9A7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UNITS SOLD</a:t>
            </a:r>
            <a:endParaRPr lang="en-US" sz="1275" dirty="0"/>
          </a:p>
        </p:txBody>
      </p:sp>
      <p:sp>
        <p:nvSpPr>
          <p:cNvPr id="23" name="Text 15"/>
          <p:cNvSpPr/>
          <p:nvPr/>
        </p:nvSpPr>
        <p:spPr>
          <a:xfrm>
            <a:off x="6934200" y="5734050"/>
            <a:ext cx="4953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 69,799</a:t>
            </a:r>
            <a:endParaRPr lang="en-US" sz="3000" dirty="0"/>
          </a:p>
        </p:txBody>
      </p:sp>
      <p:sp>
        <p:nvSpPr>
          <p:cNvPr id="24" name="Text 16"/>
          <p:cNvSpPr/>
          <p:nvPr/>
        </p:nvSpPr>
        <p:spPr>
          <a:xfrm>
            <a:off x="12039600" y="5734050"/>
            <a:ext cx="4953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6B5E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Non-promo 442,011</a:t>
            </a:r>
            <a:endParaRPr lang="en-US" sz="30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4200" y="6477000"/>
            <a:ext cx="10058400" cy="419100"/>
          </a:xfrm>
          <a:prstGeom prst="rect">
            <a:avLst/>
          </a:prstGeom>
        </p:spPr>
      </p:pic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7543800"/>
            <a:ext cx="10820400" cy="21336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934200" y="7867650"/>
            <a:ext cx="5715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5C4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PROMOTION FREQUENCY</a:t>
            </a:r>
            <a:endParaRPr lang="en-US" sz="1275" dirty="0"/>
          </a:p>
        </p:txBody>
      </p:sp>
      <p:sp>
        <p:nvSpPr>
          <p:cNvPr id="28" name="Text 18"/>
          <p:cNvSpPr/>
          <p:nvPr/>
        </p:nvSpPr>
        <p:spPr>
          <a:xfrm>
            <a:off x="6934200" y="8229600"/>
            <a:ext cx="10058400" cy="74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B2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3,750 of 36,550 records</a:t>
            </a:r>
            <a:endParaRPr lang="en-US" sz="3900" dirty="0"/>
          </a:p>
        </p:txBody>
      </p:sp>
      <p:sp>
        <p:nvSpPr>
          <p:cNvPr id="29" name="Text 19"/>
          <p:cNvSpPr/>
          <p:nvPr/>
        </p:nvSpPr>
        <p:spPr>
          <a:xfrm>
            <a:off x="6934200" y="8972550"/>
            <a:ext cx="100584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4A3D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Promotion-event days · ~10% of days generate 13.6% of revenue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3238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609600"/>
            <a:ext cx="6667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A3A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INVENTORY HEALTH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11658600" y="609600"/>
            <a:ext cx="571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7A3A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SNAPSHOT · 2025-12-01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14400" y="952500"/>
            <a:ext cx="13335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3D1A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 Health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914400" y="1809750"/>
            <a:ext cx="13335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5A2A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Stock position, pipeline and coverage as of December 1, 2025</a:t>
            </a:r>
            <a:endParaRPr lang="en-US" sz="1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76500"/>
            <a:ext cx="3886200" cy="39052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2476500"/>
            <a:ext cx="3886200" cy="390525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400" y="2476500"/>
            <a:ext cx="3886200" cy="390525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87400" y="2476500"/>
            <a:ext cx="3886200" cy="390525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295400" y="2895600"/>
            <a:ext cx="31242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BC6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INVENTORY VALUE</a:t>
            </a:r>
            <a:endParaRPr lang="en-US" sz="1350" dirty="0"/>
          </a:p>
        </p:txBody>
      </p:sp>
      <p:sp>
        <p:nvSpPr>
          <p:cNvPr id="12" name="Text 5"/>
          <p:cNvSpPr/>
          <p:nvPr/>
        </p:nvSpPr>
        <p:spPr>
          <a:xfrm>
            <a:off x="1295400" y="4476750"/>
            <a:ext cx="3238500" cy="714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₹65,394,110</a:t>
            </a:r>
            <a:endParaRPr lang="en-US" sz="3750" dirty="0"/>
          </a:p>
        </p:txBody>
      </p:sp>
      <p:sp>
        <p:nvSpPr>
          <p:cNvPr id="13" name="Text 6"/>
          <p:cNvSpPr/>
          <p:nvPr/>
        </p:nvSpPr>
        <p:spPr>
          <a:xfrm>
            <a:off x="1295400" y="5334000"/>
            <a:ext cx="3124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3D8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 held in stock at snapshot</a:t>
            </a:r>
            <a:endParaRPr lang="en-US" sz="1500" dirty="0"/>
          </a:p>
        </p:txBody>
      </p:sp>
      <p:sp>
        <p:nvSpPr>
          <p:cNvPr id="14" name="Text 7"/>
          <p:cNvSpPr/>
          <p:nvPr/>
        </p:nvSpPr>
        <p:spPr>
          <a:xfrm>
            <a:off x="5486400" y="2895600"/>
            <a:ext cx="31242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861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STOCK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5486400" y="4286250"/>
            <a:ext cx="3238500" cy="1085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3D1A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15,285</a:t>
            </a:r>
            <a:endParaRPr lang="en-US" sz="5700" dirty="0"/>
          </a:p>
        </p:txBody>
      </p:sp>
      <p:sp>
        <p:nvSpPr>
          <p:cNvPr id="16" name="Text 9"/>
          <p:cNvSpPr/>
          <p:nvPr/>
        </p:nvSpPr>
        <p:spPr>
          <a:xfrm>
            <a:off x="5486400" y="5334000"/>
            <a:ext cx="3124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A3A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units on hand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9677400" y="2895600"/>
            <a:ext cx="31242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861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ORDER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9677400" y="4286250"/>
            <a:ext cx="3238500" cy="1085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3D1A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8,840</a:t>
            </a:r>
            <a:endParaRPr lang="en-US" sz="5700" dirty="0"/>
          </a:p>
        </p:txBody>
      </p:sp>
      <p:sp>
        <p:nvSpPr>
          <p:cNvPr id="19" name="Text 12"/>
          <p:cNvSpPr/>
          <p:nvPr/>
        </p:nvSpPr>
        <p:spPr>
          <a:xfrm>
            <a:off x="9677400" y="5334000"/>
            <a:ext cx="3124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A3A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units in the inbound pipeline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13868400" y="2895600"/>
            <a:ext cx="31242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861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WEEKS OF COVER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13868400" y="4286250"/>
            <a:ext cx="3238500" cy="1085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3D1A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5.3</a:t>
            </a:r>
            <a:endParaRPr lang="en-US" sz="5700" dirty="0"/>
          </a:p>
        </p:txBody>
      </p:sp>
      <p:sp>
        <p:nvSpPr>
          <p:cNvPr id="22" name="Text 15"/>
          <p:cNvSpPr/>
          <p:nvPr/>
        </p:nvSpPr>
        <p:spPr>
          <a:xfrm>
            <a:off x="13868400" y="5334000"/>
            <a:ext cx="3124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A3A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of demand covered</a:t>
            </a:r>
            <a:endParaRPr lang="en-US" sz="15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6762750"/>
            <a:ext cx="16459200" cy="291465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295400" y="7143750"/>
            <a:ext cx="114300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3D1A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Pipeline: 24,125 units</a:t>
            </a:r>
            <a:endParaRPr lang="en-US" sz="225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7905750"/>
            <a:ext cx="15697200" cy="6096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295400" y="8763000"/>
            <a:ext cx="7620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61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hand · 15,285 units (63%)</a:t>
            </a:r>
            <a:endParaRPr lang="en-US" sz="1800" dirty="0"/>
          </a:p>
        </p:txBody>
      </p:sp>
      <p:sp>
        <p:nvSpPr>
          <p:cNvPr id="27" name="Text 18"/>
          <p:cNvSpPr/>
          <p:nvPr/>
        </p:nvSpPr>
        <p:spPr>
          <a:xfrm>
            <a:off x="9372600" y="8763000"/>
            <a:ext cx="7620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A3A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order · 8,840 units (37%)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3429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609600"/>
            <a:ext cx="6667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D1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· STOCK RISK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11658600" y="609600"/>
            <a:ext cx="571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D1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LATEST SNAPSHOT · 50 SKUs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14400" y="952500"/>
            <a:ext cx="13335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Stock Risk Assessment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914400" y="1809750"/>
            <a:ext cx="13335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FFE3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SKUs are low risk — two need immediate attention</a:t>
            </a:r>
            <a:endParaRPr lang="en-US" sz="1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67000"/>
            <a:ext cx="10287000" cy="3352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5400" y="2971800"/>
            <a:ext cx="85725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A0A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Risk Level · SKUs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1295400" y="3467100"/>
            <a:ext cx="2667000" cy="752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E8A0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5400" dirty="0"/>
          </a:p>
        </p:txBody>
      </p:sp>
      <p:sp>
        <p:nvSpPr>
          <p:cNvPr id="10" name="Text 6"/>
          <p:cNvSpPr/>
          <p:nvPr/>
        </p:nvSpPr>
        <p:spPr>
          <a:xfrm>
            <a:off x="4343400" y="3467100"/>
            <a:ext cx="2667000" cy="752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E8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5400" dirty="0"/>
          </a:p>
        </p:txBody>
      </p:sp>
      <p:sp>
        <p:nvSpPr>
          <p:cNvPr id="11" name="Text 7"/>
          <p:cNvSpPr/>
          <p:nvPr/>
        </p:nvSpPr>
        <p:spPr>
          <a:xfrm>
            <a:off x="7391400" y="3467100"/>
            <a:ext cx="2667000" cy="752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D628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5400" dirty="0"/>
          </a:p>
        </p:txBody>
      </p:sp>
      <p:sp>
        <p:nvSpPr>
          <p:cNvPr id="12" name="Text 8"/>
          <p:cNvSpPr/>
          <p:nvPr/>
        </p:nvSpPr>
        <p:spPr>
          <a:xfrm>
            <a:off x="1295400" y="4343400"/>
            <a:ext cx="2667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B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RISK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343400" y="4343400"/>
            <a:ext cx="2667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B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 RISK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391400" y="4343400"/>
            <a:ext cx="2667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B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RISK</a:t>
            </a:r>
            <a:endParaRPr lang="en-US" sz="13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5143500"/>
            <a:ext cx="9525000" cy="342900"/>
          </a:xfrm>
          <a:prstGeom prst="rect">
            <a:avLst/>
          </a:prstGeom>
        </p:spPr>
      </p:pic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6324600"/>
            <a:ext cx="10287000" cy="33528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95400" y="6629400"/>
            <a:ext cx="85725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A0A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Stockout Risk · SKUs</a:t>
            </a:r>
            <a:endParaRPr lang="en-US" sz="1950" dirty="0"/>
          </a:p>
        </p:txBody>
      </p:sp>
      <p:sp>
        <p:nvSpPr>
          <p:cNvPr id="18" name="Text 12"/>
          <p:cNvSpPr/>
          <p:nvPr/>
        </p:nvSpPr>
        <p:spPr>
          <a:xfrm>
            <a:off x="1295400" y="7124700"/>
            <a:ext cx="2667000" cy="752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E8A0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</a:t>
            </a:r>
            <a:endParaRPr lang="en-US" sz="5400" dirty="0"/>
          </a:p>
        </p:txBody>
      </p:sp>
      <p:sp>
        <p:nvSpPr>
          <p:cNvPr id="19" name="Text 13"/>
          <p:cNvSpPr/>
          <p:nvPr/>
        </p:nvSpPr>
        <p:spPr>
          <a:xfrm>
            <a:off x="4343400" y="7124700"/>
            <a:ext cx="2667000" cy="752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E8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5400" dirty="0"/>
          </a:p>
        </p:txBody>
      </p:sp>
      <p:sp>
        <p:nvSpPr>
          <p:cNvPr id="20" name="Text 14"/>
          <p:cNvSpPr/>
          <p:nvPr/>
        </p:nvSpPr>
        <p:spPr>
          <a:xfrm>
            <a:off x="7391400" y="7124700"/>
            <a:ext cx="2667000" cy="752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D628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5400" dirty="0"/>
          </a:p>
        </p:txBody>
      </p:sp>
      <p:sp>
        <p:nvSpPr>
          <p:cNvPr id="21" name="Text 15"/>
          <p:cNvSpPr/>
          <p:nvPr/>
        </p:nvSpPr>
        <p:spPr>
          <a:xfrm>
            <a:off x="1295400" y="8001000"/>
            <a:ext cx="2667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B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343400" y="8001000"/>
            <a:ext cx="2667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B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391400" y="8001000"/>
            <a:ext cx="2667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B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3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400" y="8801100"/>
            <a:ext cx="9525000" cy="342900"/>
          </a:xfrm>
          <a:prstGeom prst="rect">
            <a:avLst/>
          </a:prstGeom>
        </p:spPr>
      </p:pic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06200" y="2667000"/>
            <a:ext cx="5867400" cy="70104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1963400" y="3143250"/>
            <a:ext cx="4953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D1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STOCKOUT SALES VALUE AT RISK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11963400" y="5334000"/>
            <a:ext cx="51435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₹3,351,514</a:t>
            </a:r>
            <a:endParaRPr lang="en-US" sz="5700" dirty="0"/>
          </a:p>
        </p:txBody>
      </p:sp>
      <p:sp>
        <p:nvSpPr>
          <p:cNvPr id="28" name="Text 20"/>
          <p:cNvSpPr/>
          <p:nvPr/>
        </p:nvSpPr>
        <p:spPr>
          <a:xfrm>
            <a:off x="11963400" y="8191500"/>
            <a:ext cx="4953000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FE3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Potential lost sales if at-risk SKUs are not replenished in time.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3429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609600"/>
            <a:ext cx="6667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D1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· OVERSTOCK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11658600" y="609600"/>
            <a:ext cx="571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D1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LATEST SNAPSHOT · 50 SKUs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14400" y="952500"/>
            <a:ext cx="13335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Overstock Exposure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914400" y="1809750"/>
            <a:ext cx="13335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FFE3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Nine in ten SKUs are safe; five carry high overstock risk</a:t>
            </a:r>
            <a:endParaRPr lang="en-US" sz="1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67000"/>
            <a:ext cx="10287000" cy="7010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5400" y="3009900"/>
            <a:ext cx="85725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A0A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Overstock Risk · each square is one SKU</a:t>
            </a:r>
            <a:endParaRPr lang="en-US" sz="2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100" y="3771900"/>
            <a:ext cx="8229600" cy="68580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100" y="4610100"/>
            <a:ext cx="8229600" cy="685800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3100" y="5448300"/>
            <a:ext cx="8229600" cy="685800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3100" y="6286500"/>
            <a:ext cx="8229600" cy="68580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3100" y="7124700"/>
            <a:ext cx="8229600" cy="68580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1943100" y="8343900"/>
            <a:ext cx="4000500" cy="390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B06A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 SKUs · Low risk</a:t>
            </a:r>
            <a:endParaRPr lang="en-US" sz="2550" dirty="0"/>
          </a:p>
        </p:txBody>
      </p:sp>
      <p:sp>
        <p:nvSpPr>
          <p:cNvPr id="15" name="Text 6"/>
          <p:cNvSpPr/>
          <p:nvPr/>
        </p:nvSpPr>
        <p:spPr>
          <a:xfrm>
            <a:off x="6172200" y="8343900"/>
            <a:ext cx="4000500" cy="390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C81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SKUs · High risk</a:t>
            </a:r>
            <a:endParaRPr lang="en-US" sz="2550" dirty="0"/>
          </a:p>
        </p:txBody>
      </p:sp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06200" y="2667000"/>
            <a:ext cx="5867400" cy="701040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11963400" y="3143250"/>
            <a:ext cx="4953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D1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OVERSTOCK VALUE</a:t>
            </a:r>
            <a:endParaRPr lang="en-US" sz="1500" dirty="0"/>
          </a:p>
        </p:txBody>
      </p:sp>
      <p:sp>
        <p:nvSpPr>
          <p:cNvPr id="18" name="Text 8"/>
          <p:cNvSpPr/>
          <p:nvPr/>
        </p:nvSpPr>
        <p:spPr>
          <a:xfrm>
            <a:off x="11963400" y="5334000"/>
            <a:ext cx="51435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₹4,477,141</a:t>
            </a:r>
            <a:endParaRPr lang="en-US" sz="5700" dirty="0"/>
          </a:p>
        </p:txBody>
      </p:sp>
      <p:sp>
        <p:nvSpPr>
          <p:cNvPr id="19" name="Text 9"/>
          <p:cNvSpPr/>
          <p:nvPr/>
        </p:nvSpPr>
        <p:spPr>
          <a:xfrm>
            <a:off x="11963400" y="8191500"/>
            <a:ext cx="4953000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FE3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capital tied up in excess stock at the latest snapshot.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3429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609600"/>
            <a:ext cx="6667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D6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· FORECAST &amp; MODEL ACCURACY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11658600" y="609600"/>
            <a:ext cx="571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FFD6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 ANALYTICS REPORT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14400" y="952500"/>
            <a:ext cx="13335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 &amp; Model Accuracy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914400" y="1809750"/>
            <a:ext cx="13335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FFE6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halves forecast error and removes baseline bias</a:t>
            </a:r>
            <a:endParaRPr lang="en-US" sz="1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71750"/>
            <a:ext cx="3105150" cy="23812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150" y="2571750"/>
            <a:ext cx="3105150" cy="238125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1900" y="2571750"/>
            <a:ext cx="3105150" cy="238125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5650" y="2571750"/>
            <a:ext cx="3105150" cy="2381250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49400" y="2571750"/>
            <a:ext cx="3105150" cy="238125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1181100" y="2876550"/>
            <a:ext cx="257175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B823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WAPE</a:t>
            </a:r>
            <a:endParaRPr lang="en-US" sz="1275" dirty="0"/>
          </a:p>
        </p:txBody>
      </p:sp>
      <p:sp>
        <p:nvSpPr>
          <p:cNvPr id="13" name="Text 5"/>
          <p:cNvSpPr/>
          <p:nvPr/>
        </p:nvSpPr>
        <p:spPr>
          <a:xfrm>
            <a:off x="1181100" y="3333750"/>
            <a:ext cx="2667000" cy="857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3A0A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8.67%</a:t>
            </a:r>
            <a:endParaRPr lang="en-US" sz="4500" dirty="0"/>
          </a:p>
        </p:txBody>
      </p:sp>
      <p:sp>
        <p:nvSpPr>
          <p:cNvPr id="14" name="Text 6"/>
          <p:cNvSpPr/>
          <p:nvPr/>
        </p:nvSpPr>
        <p:spPr>
          <a:xfrm>
            <a:off x="1181100" y="4286250"/>
            <a:ext cx="257175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A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 error</a:t>
            </a:r>
            <a:endParaRPr lang="en-US" sz="1500" dirty="0"/>
          </a:p>
        </p:txBody>
      </p:sp>
      <p:sp>
        <p:nvSpPr>
          <p:cNvPr id="15" name="Text 7"/>
          <p:cNvSpPr/>
          <p:nvPr/>
        </p:nvSpPr>
        <p:spPr>
          <a:xfrm>
            <a:off x="4514850" y="2876550"/>
            <a:ext cx="257175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B823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WAPE</a:t>
            </a:r>
            <a:endParaRPr lang="en-US" sz="1275" dirty="0"/>
          </a:p>
        </p:txBody>
      </p:sp>
      <p:sp>
        <p:nvSpPr>
          <p:cNvPr id="16" name="Text 8"/>
          <p:cNvSpPr/>
          <p:nvPr/>
        </p:nvSpPr>
        <p:spPr>
          <a:xfrm>
            <a:off x="4514850" y="3333750"/>
            <a:ext cx="2667000" cy="857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9A7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16.87%</a:t>
            </a:r>
            <a:endParaRPr lang="en-US" sz="4500" dirty="0"/>
          </a:p>
        </p:txBody>
      </p:sp>
      <p:sp>
        <p:nvSpPr>
          <p:cNvPr id="17" name="Text 9"/>
          <p:cNvSpPr/>
          <p:nvPr/>
        </p:nvSpPr>
        <p:spPr>
          <a:xfrm>
            <a:off x="4514850" y="4286250"/>
            <a:ext cx="257175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A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naive benchmark</a:t>
            </a:r>
            <a:endParaRPr lang="en-US" sz="1500" dirty="0"/>
          </a:p>
        </p:txBody>
      </p:sp>
      <p:sp>
        <p:nvSpPr>
          <p:cNvPr id="18" name="Text 10"/>
          <p:cNvSpPr/>
          <p:nvPr/>
        </p:nvSpPr>
        <p:spPr>
          <a:xfrm>
            <a:off x="7848600" y="2876550"/>
            <a:ext cx="257175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07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IMPROVEMENT</a:t>
            </a:r>
            <a:endParaRPr lang="en-US" sz="1275" dirty="0"/>
          </a:p>
        </p:txBody>
      </p:sp>
      <p:sp>
        <p:nvSpPr>
          <p:cNvPr id="19" name="Text 11"/>
          <p:cNvSpPr/>
          <p:nvPr/>
        </p:nvSpPr>
        <p:spPr>
          <a:xfrm>
            <a:off x="7848600" y="3333750"/>
            <a:ext cx="2667000" cy="857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48.6%</a:t>
            </a:r>
            <a:endParaRPr lang="en-US" sz="4500" dirty="0"/>
          </a:p>
        </p:txBody>
      </p:sp>
      <p:sp>
        <p:nvSpPr>
          <p:cNvPr id="20" name="Text 12"/>
          <p:cNvSpPr/>
          <p:nvPr/>
        </p:nvSpPr>
        <p:spPr>
          <a:xfrm>
            <a:off x="7848600" y="4286250"/>
            <a:ext cx="257175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D6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error vs baseline</a:t>
            </a:r>
            <a:endParaRPr lang="en-US" sz="1500" dirty="0"/>
          </a:p>
        </p:txBody>
      </p:sp>
      <p:sp>
        <p:nvSpPr>
          <p:cNvPr id="21" name="Text 13"/>
          <p:cNvSpPr/>
          <p:nvPr/>
        </p:nvSpPr>
        <p:spPr>
          <a:xfrm>
            <a:off x="11182350" y="2876550"/>
            <a:ext cx="257175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B823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BIAS</a:t>
            </a:r>
            <a:endParaRPr lang="en-US" sz="1275" dirty="0"/>
          </a:p>
        </p:txBody>
      </p:sp>
      <p:sp>
        <p:nvSpPr>
          <p:cNvPr id="22" name="Text 14"/>
          <p:cNvSpPr/>
          <p:nvPr/>
        </p:nvSpPr>
        <p:spPr>
          <a:xfrm>
            <a:off x="11182350" y="3333750"/>
            <a:ext cx="2667000" cy="857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3A0A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0.05%</a:t>
            </a:r>
            <a:endParaRPr lang="en-US" sz="4500" dirty="0"/>
          </a:p>
        </p:txBody>
      </p:sp>
      <p:sp>
        <p:nvSpPr>
          <p:cNvPr id="23" name="Text 15"/>
          <p:cNvSpPr/>
          <p:nvPr/>
        </p:nvSpPr>
        <p:spPr>
          <a:xfrm>
            <a:off x="11182350" y="4286250"/>
            <a:ext cx="257175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A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virtually unbiased</a:t>
            </a:r>
            <a:endParaRPr lang="en-US" sz="1500" dirty="0"/>
          </a:p>
        </p:txBody>
      </p:sp>
      <p:sp>
        <p:nvSpPr>
          <p:cNvPr id="24" name="Text 16"/>
          <p:cNvSpPr/>
          <p:nvPr/>
        </p:nvSpPr>
        <p:spPr>
          <a:xfrm>
            <a:off x="14516100" y="2876550"/>
            <a:ext cx="257175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B823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BIAS</a:t>
            </a:r>
            <a:endParaRPr lang="en-US" sz="1275" dirty="0"/>
          </a:p>
        </p:txBody>
      </p:sp>
      <p:sp>
        <p:nvSpPr>
          <p:cNvPr id="25" name="Text 17"/>
          <p:cNvSpPr/>
          <p:nvPr/>
        </p:nvSpPr>
        <p:spPr>
          <a:xfrm>
            <a:off x="14516100" y="3333750"/>
            <a:ext cx="2667000" cy="857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9A7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-6.63%</a:t>
            </a:r>
            <a:endParaRPr lang="en-US" sz="4500" dirty="0"/>
          </a:p>
        </p:txBody>
      </p:sp>
      <p:sp>
        <p:nvSpPr>
          <p:cNvPr id="26" name="Text 18"/>
          <p:cNvSpPr/>
          <p:nvPr/>
        </p:nvSpPr>
        <p:spPr>
          <a:xfrm>
            <a:off x="14516100" y="4286250"/>
            <a:ext cx="257175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A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systematic under-forecast</a:t>
            </a:r>
            <a:endParaRPr lang="en-US" sz="15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257800"/>
            <a:ext cx="16440150" cy="44196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295400" y="5562600"/>
            <a:ext cx="95250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3A0A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Importance</a:t>
            </a:r>
            <a:endParaRPr lang="en-US" sz="2250" dirty="0"/>
          </a:p>
        </p:txBody>
      </p:sp>
      <p:sp>
        <p:nvSpPr>
          <p:cNvPr id="29" name="Text 20"/>
          <p:cNvSpPr/>
          <p:nvPr/>
        </p:nvSpPr>
        <p:spPr>
          <a:xfrm>
            <a:off x="1295400" y="6096000"/>
            <a:ext cx="2857500" cy="3333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250000"/>
              </a:lnSpc>
              <a:buNone/>
            </a:pPr>
            <a:r>
              <a:rPr lang="en-US" sz="2100" dirty="0">
                <a:solidFill>
                  <a:srgbClr val="5C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Rolling_Mean_4</a:t>
            </a:r>
            <a:endParaRPr lang="en-US" sz="2100" dirty="0"/>
          </a:p>
          <a:p>
            <a:pPr algn="l" indent="0" marL="0">
              <a:lnSpc>
                <a:spcPct val="250000"/>
              </a:lnSpc>
              <a:buNone/>
            </a:pPr>
            <a:r>
              <a:rPr lang="en-US" sz="2100" dirty="0">
                <a:solidFill>
                  <a:srgbClr val="5C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Rolling_Mean_8</a:t>
            </a:r>
            <a:endParaRPr lang="en-US" sz="2100" dirty="0"/>
          </a:p>
          <a:p>
            <a:pPr algn="l" indent="0" marL="0">
              <a:lnSpc>
                <a:spcPct val="250000"/>
              </a:lnSpc>
              <a:buNone/>
            </a:pPr>
            <a:r>
              <a:rPr lang="en-US" sz="2100" dirty="0">
                <a:solidFill>
                  <a:srgbClr val="5C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Lag_1</a:t>
            </a:r>
            <a:endParaRPr lang="en-US" sz="2100" dirty="0"/>
          </a:p>
          <a:p>
            <a:pPr algn="l" indent="0" marL="0">
              <a:lnSpc>
                <a:spcPct val="250000"/>
              </a:lnSpc>
              <a:buNone/>
            </a:pPr>
            <a:r>
              <a:rPr lang="en-US" sz="2100" dirty="0">
                <a:solidFill>
                  <a:srgbClr val="5C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Week_of_Year</a:t>
            </a:r>
            <a:endParaRPr lang="en-US" sz="2100" dirty="0"/>
          </a:p>
          <a:p>
            <a:pPr algn="l" indent="0" marL="0">
              <a:lnSpc>
                <a:spcPct val="250000"/>
              </a:lnSpc>
              <a:buNone/>
            </a:pPr>
            <a:r>
              <a:rPr lang="en-US" sz="2100" dirty="0">
                <a:solidFill>
                  <a:srgbClr val="5C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Rolling_Std_4</a:t>
            </a:r>
            <a:endParaRPr lang="en-US" sz="21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1500" y="6238875"/>
            <a:ext cx="10477500" cy="30480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5049500" y="6096000"/>
            <a:ext cx="1943100" cy="3333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250000"/>
              </a:lnSpc>
              <a:buNone/>
            </a:pPr>
            <a:r>
              <a:rPr lang="en-US" sz="2100" b="1" dirty="0">
                <a:solidFill>
                  <a:srgbClr val="3A0A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93.3%</a:t>
            </a:r>
            <a:endParaRPr lang="en-US" sz="2100" dirty="0"/>
          </a:p>
          <a:p>
            <a:pPr algn="r" indent="0" marL="0">
              <a:lnSpc>
                <a:spcPct val="250000"/>
              </a:lnSpc>
              <a:buNone/>
            </a:pPr>
            <a:r>
              <a:rPr lang="en-US" sz="2100" b="1" dirty="0">
                <a:solidFill>
                  <a:srgbClr val="3A0A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2.3%</a:t>
            </a:r>
            <a:endParaRPr lang="en-US" sz="2100" dirty="0"/>
          </a:p>
          <a:p>
            <a:pPr algn="r" indent="0" marL="0">
              <a:lnSpc>
                <a:spcPct val="250000"/>
              </a:lnSpc>
              <a:buNone/>
            </a:pPr>
            <a:r>
              <a:rPr lang="en-US" sz="2100" b="1" dirty="0">
                <a:solidFill>
                  <a:srgbClr val="3A0A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1.0%</a:t>
            </a:r>
            <a:endParaRPr lang="en-US" sz="2100" dirty="0"/>
          </a:p>
          <a:p>
            <a:pPr algn="r" indent="0" marL="0">
              <a:lnSpc>
                <a:spcPct val="250000"/>
              </a:lnSpc>
              <a:buNone/>
            </a:pPr>
            <a:r>
              <a:rPr lang="en-US" sz="2100" b="1" dirty="0">
                <a:solidFill>
                  <a:srgbClr val="3A0A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0.8%</a:t>
            </a:r>
            <a:endParaRPr lang="en-US" sz="2100" dirty="0"/>
          </a:p>
          <a:p>
            <a:pPr algn="r" indent="0" marL="0">
              <a:lnSpc>
                <a:spcPct val="250000"/>
              </a:lnSpc>
              <a:buNone/>
            </a:pPr>
            <a:r>
              <a:rPr lang="en-US" sz="2100" b="1" dirty="0">
                <a:solidFill>
                  <a:srgbClr val="3A0A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0.4%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3238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609600"/>
            <a:ext cx="6667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2B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· RECOMMENDATION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11658600" y="609600"/>
            <a:ext cx="571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2B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LATEST SNAPSHOT · 50 SKUs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14400" y="952500"/>
            <a:ext cx="13335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SKU Actions &amp; Value at Risk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914400" y="1809750"/>
            <a:ext cx="13335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F7D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Prioritise markdowns and two urgent reorders to protect value</a:t>
            </a:r>
            <a:endParaRPr lang="en-US" sz="1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76500"/>
            <a:ext cx="3943350" cy="209550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350" y="2476500"/>
            <a:ext cx="3943350" cy="209550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0" y="2476500"/>
            <a:ext cx="3943350" cy="209550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30250" y="2476500"/>
            <a:ext cx="3943350" cy="20955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257300" y="2781300"/>
            <a:ext cx="32385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7D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HEALTHY</a:t>
            </a:r>
            <a:endParaRPr lang="en-US" sz="1350" dirty="0"/>
          </a:p>
        </p:txBody>
      </p:sp>
      <p:sp>
        <p:nvSpPr>
          <p:cNvPr id="12" name="Text 5"/>
          <p:cNvSpPr/>
          <p:nvPr/>
        </p:nvSpPr>
        <p:spPr>
          <a:xfrm>
            <a:off x="1257300" y="3162300"/>
            <a:ext cx="3238500" cy="1047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3A07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 SKUs</a:t>
            </a:r>
            <a:endParaRPr lang="en-US" sz="5400" dirty="0"/>
          </a:p>
        </p:txBody>
      </p:sp>
      <p:sp>
        <p:nvSpPr>
          <p:cNvPr id="13" name="Text 6"/>
          <p:cNvSpPr/>
          <p:nvPr/>
        </p:nvSpPr>
        <p:spPr>
          <a:xfrm>
            <a:off x="5429250" y="2781300"/>
            <a:ext cx="32385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861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/ VOLATILE</a:t>
            </a:r>
            <a:endParaRPr lang="en-US" sz="1350" dirty="0"/>
          </a:p>
        </p:txBody>
      </p:sp>
      <p:sp>
        <p:nvSpPr>
          <p:cNvPr id="14" name="Text 7"/>
          <p:cNvSpPr/>
          <p:nvPr/>
        </p:nvSpPr>
        <p:spPr>
          <a:xfrm>
            <a:off x="5429250" y="3162300"/>
            <a:ext cx="3238500" cy="1047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3A07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SKUs</a:t>
            </a:r>
            <a:endParaRPr lang="en-US" sz="5400" dirty="0"/>
          </a:p>
        </p:txBody>
      </p:sp>
      <p:sp>
        <p:nvSpPr>
          <p:cNvPr id="15" name="Text 8"/>
          <p:cNvSpPr/>
          <p:nvPr/>
        </p:nvSpPr>
        <p:spPr>
          <a:xfrm>
            <a:off x="9601200" y="2781300"/>
            <a:ext cx="32385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A0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MARKDOWN / CLEAR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9601200" y="3162300"/>
            <a:ext cx="3238500" cy="1047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3A07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SKUs</a:t>
            </a:r>
            <a:endParaRPr lang="en-US" sz="5400" dirty="0"/>
          </a:p>
        </p:txBody>
      </p:sp>
      <p:sp>
        <p:nvSpPr>
          <p:cNvPr id="17" name="Text 10"/>
          <p:cNvSpPr/>
          <p:nvPr/>
        </p:nvSpPr>
        <p:spPr>
          <a:xfrm>
            <a:off x="13773150" y="2781300"/>
            <a:ext cx="32385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1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REORDER NOW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13773150" y="3162300"/>
            <a:ext cx="3238500" cy="1047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SKUs</a:t>
            </a:r>
            <a:endParaRPr lang="en-US" sz="5400" dirty="0"/>
          </a:p>
        </p:txBody>
      </p:sp>
      <p:sp>
        <p:nvSpPr>
          <p:cNvPr id="19" name="Card Bg"/>
          <p:cNvSpPr/>
          <p:nvPr/>
        </p:nvSpPr>
        <p:spPr>
          <a:xfrm>
            <a:off x="914400" y="4800600"/>
            <a:ext cx="16459200" cy="4400550"/>
          </a:xfrm>
          <a:prstGeom prst="roundRect">
            <a:avLst>
              <a:gd name="adj" fmla="val 6000"/>
            </a:avLst>
          </a:prstGeom>
          <a:solidFill>
            <a:srgbClr val="3A0710"/>
          </a:solidFill>
          <a:ln>
            <a:noFill/>
          </a:ln>
        </p:spPr>
        <p:txBody>
          <a:bodyPr wrap="square" rtlCol="0" anchor="ctr"/>
          <a:lstStyle/>
          <a:p>
            <a:endParaRPr lang="en-US"/>
          </a:p>
        </p:txBody>
      </p:sp>
      <p:sp>
        <p:nvSpPr>
          <p:cNvPr id="20" name="Text 12"/>
          <p:cNvSpPr/>
          <p:nvPr/>
        </p:nvSpPr>
        <p:spPr>
          <a:xfrm>
            <a:off x="1257300" y="5143500"/>
            <a:ext cx="6096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B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VALUE AT RISK · STOCKOUT + OVERSTOCK</a:t>
            </a:r>
            <a:endParaRPr lang="en-US" sz="1500" dirty="0"/>
          </a:p>
        </p:txBody>
      </p:sp>
      <p:sp>
        <p:nvSpPr>
          <p:cNvPr id="21" name="Text 13"/>
          <p:cNvSpPr/>
          <p:nvPr/>
        </p:nvSpPr>
        <p:spPr>
          <a:xfrm>
            <a:off x="1257300" y="565785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₹7,828,655</a:t>
            </a:r>
            <a:endParaRPr lang="en-US" sz="7200" dirty="0"/>
          </a:p>
        </p:txBody>
      </p:sp>
      <p:sp>
        <p:nvSpPr>
          <p:cNvPr id="22" name="Text 14"/>
          <p:cNvSpPr/>
          <p:nvPr/>
        </p:nvSpPr>
        <p:spPr>
          <a:xfrm>
            <a:off x="1257300" y="7315200"/>
            <a:ext cx="14859000" cy="600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F7D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₹3,351,514 in potential lost sales from stockouts, plus ₹4,477,141 in capital tied up in excess stock.</a:t>
            </a:r>
            <a:endParaRPr lang="en-US" sz="1950" dirty="0"/>
          </a:p>
        </p:txBody>
      </p:sp>
      <p:sp>
        <p:nvSpPr>
          <p:cNvPr id="23" name="Text 15"/>
          <p:cNvSpPr/>
          <p:nvPr/>
        </p:nvSpPr>
        <p:spPr>
          <a:xfrm>
            <a:off x="1257300" y="8077200"/>
            <a:ext cx="14859000" cy="600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step: reorder the 2 high-risk SKUs now, then clear the 5 overstocked SKUs to free up working capital.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nd Card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 Bg"/>
          <p:cNvSpPr/>
          <p:nvPr/>
        </p:nvSpPr>
        <p:spPr>
          <a:xfrm>
            <a:off x="8458200" y="685800"/>
            <a:ext cx="13716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wrap="square" rtlCol="0" anchor="ctr"/>
          <a:lstStyle/>
          <a:p>
            <a:endParaRPr lang="en-US"/>
          </a:p>
        </p:txBody>
      </p:sp>
      <p:pic>
        <p:nvPicPr>
          <p:cNvPr id="3" name="Logo" descr="preencode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9650" y="857250"/>
            <a:ext cx="1028700" cy="1028700"/>
          </a:xfrm>
          <a:prstGeom prst="rect">
            <a:avLst/>
          </a:prstGeom>
        </p:spPr>
      </p:pic>
      <p:sp>
        <p:nvSpPr>
          <p:cNvPr id="4" name="ThankYou"/>
          <p:cNvSpPr/>
          <p:nvPr/>
        </p:nvSpPr>
        <p:spPr>
          <a:xfrm>
            <a:off x="914400" y="2514600"/>
            <a:ext cx="16459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8400" b="1" dirty="0"/>
          </a:p>
        </p:txBody>
      </p:sp>
      <p:sp>
        <p:nvSpPr>
          <p:cNvPr id="5" name="Subtitle"/>
          <p:cNvSpPr/>
          <p:nvPr/>
        </p:nvSpPr>
        <p:spPr>
          <a:xfrm>
            <a:off x="914400" y="4286250"/>
            <a:ext cx="16459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5C5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FORESIGHT · Retail Analytics Report</a:t>
            </a:r>
            <a:endParaRPr lang="en-US" sz="1950" b="1" dirty="0"/>
          </a:p>
        </p:txBody>
      </p:sp>
      <p:sp>
        <p:nvSpPr>
          <p:cNvPr id="6" name="Divider"/>
          <p:cNvSpPr/>
          <p:nvPr/>
        </p:nvSpPr>
        <p:spPr>
          <a:xfrm>
            <a:off x="8458200" y="4972050"/>
            <a:ext cx="1371600" cy="19050"/>
          </a:xfrm>
          <a:prstGeom prst="rect">
            <a:avLst/>
          </a:prstGeom>
          <a:solidFill>
            <a:srgbClr val="3A4658"/>
          </a:solidFill>
          <a:ln>
            <a:noFill/>
          </a:ln>
        </p:spPr>
        <p:txBody>
          <a:bodyPr wrap="square" rtlCol="0" anchor="ctr"/>
          <a:lstStyle/>
          <a:p>
            <a:endParaRPr lang="en-US"/>
          </a:p>
        </p:txBody>
      </p:sp>
      <p:sp>
        <p:nvSpPr>
          <p:cNvPr id="7" name="PresentedByLabel"/>
          <p:cNvSpPr/>
          <p:nvPr/>
        </p:nvSpPr>
        <p:spPr>
          <a:xfrm>
            <a:off x="914400" y="5334000"/>
            <a:ext cx="164592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</a:t>
            </a:r>
            <a:endParaRPr lang="en-US" sz="1350" b="1" dirty="0"/>
          </a:p>
        </p:txBody>
      </p:sp>
      <p:sp>
        <p:nvSpPr>
          <p:cNvPr id="8" name="Name"/>
          <p:cNvSpPr/>
          <p:nvPr/>
        </p:nvSpPr>
        <p:spPr>
          <a:xfrm>
            <a:off x="914400" y="5762625"/>
            <a:ext cx="164592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Lavanya Ramavath</a:t>
            </a:r>
            <a:endParaRPr lang="en-US" sz="3300" b="1" dirty="0"/>
          </a:p>
        </p:txBody>
      </p:sp>
      <p:sp>
        <p:nvSpPr>
          <p:cNvPr id="9" name="Company"/>
          <p:cNvSpPr/>
          <p:nvPr/>
        </p:nvSpPr>
        <p:spPr>
          <a:xfrm>
            <a:off x="914400" y="6505575"/>
            <a:ext cx="164592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Zidio Development</a:t>
            </a:r>
            <a:endParaRPr lang="en-US" sz="2000" b="1" dirty="0"/>
          </a:p>
        </p:txBody>
      </p:sp>
      <p:sp>
        <p:nvSpPr>
          <p:cNvPr id="10" name="Footer"/>
          <p:cNvSpPr/>
          <p:nvPr/>
        </p:nvSpPr>
        <p:spPr>
          <a:xfrm>
            <a:off x="914400" y="9601200"/>
            <a:ext cx="164592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Masai School × IIT Patna · AIML Program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 Bg"/>
          <p:cNvSpPr/>
          <p:nvPr/>
        </p:nvSpPr>
        <p:spPr>
          <a:xfrm>
            <a:off x="8229600" y="800100"/>
            <a:ext cx="18288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wrap="square" rtlCol="0" anchor="ctr"/>
          <a:lstStyle/>
          <a:p>
            <a:endParaRPr lang="en-US"/>
          </a:p>
        </p:txBody>
      </p:sp>
      <p:pic>
        <p:nvPicPr>
          <p:cNvPr id="3" name="Logo" descr="preencode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1028700"/>
            <a:ext cx="1371600" cy="1371600"/>
          </a:xfrm>
          <a:prstGeom prst="rect">
            <a:avLst/>
          </a:prstGeom>
        </p:spPr>
      </p:pic>
      <p:sp>
        <p:nvSpPr>
          <p:cNvPr id="4" name="Eyebrow"/>
          <p:cNvSpPr/>
          <p:nvPr/>
        </p:nvSpPr>
        <p:spPr>
          <a:xfrm>
            <a:off x="914400" y="2971800"/>
            <a:ext cx="164592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5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SCIENCE &amp; ANALYTICS PROJECT</a:t>
            </a:r>
            <a:endParaRPr lang="en-US" sz="1500" b="1" dirty="0"/>
          </a:p>
        </p:txBody>
      </p:sp>
      <p:sp>
        <p:nvSpPr>
          <p:cNvPr id="5" name="Title"/>
          <p:cNvSpPr/>
          <p:nvPr/>
        </p:nvSpPr>
        <p:spPr>
          <a:xfrm>
            <a:off x="914400" y="3486150"/>
            <a:ext cx="1645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FORESIGHT</a:t>
            </a:r>
            <a:endParaRPr lang="en-US" sz="7200" b="1" dirty="0"/>
          </a:p>
        </p:txBody>
      </p:sp>
      <p:sp>
        <p:nvSpPr>
          <p:cNvPr id="6" name="Subtitle"/>
          <p:cNvSpPr/>
          <p:nvPr/>
        </p:nvSpPr>
        <p:spPr>
          <a:xfrm>
            <a:off x="914400" y="4972050"/>
            <a:ext cx="1645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9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Demand &amp; Inventory Intelligence Platform</a:t>
            </a:r>
            <a:endParaRPr lang="en-US" sz="2400" dirty="0"/>
          </a:p>
        </p:txBody>
      </p:sp>
      <p:sp>
        <p:nvSpPr>
          <p:cNvPr id="7" name="Divider"/>
          <p:cNvSpPr/>
          <p:nvPr/>
        </p:nvSpPr>
        <p:spPr>
          <a:xfrm>
            <a:off x="8458200" y="5772150"/>
            <a:ext cx="1371600" cy="19050"/>
          </a:xfrm>
          <a:prstGeom prst="rect">
            <a:avLst/>
          </a:prstGeom>
          <a:solidFill>
            <a:srgbClr val="3A4658"/>
          </a:solidFill>
          <a:ln>
            <a:noFill/>
          </a:ln>
        </p:spPr>
        <p:txBody>
          <a:bodyPr wrap="square" rtlCol="0" anchor="ctr"/>
          <a:lstStyle/>
          <a:p>
            <a:endParaRPr lang="en-US"/>
          </a:p>
        </p:txBody>
      </p:sp>
      <p:sp>
        <p:nvSpPr>
          <p:cNvPr id="8" name="PresentedByLabel"/>
          <p:cNvSpPr/>
          <p:nvPr/>
        </p:nvSpPr>
        <p:spPr>
          <a:xfrm>
            <a:off x="914400" y="6134100"/>
            <a:ext cx="164592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</a:t>
            </a:r>
            <a:endParaRPr lang="en-US" sz="1350" b="1" dirty="0"/>
          </a:p>
        </p:txBody>
      </p:sp>
      <p:sp>
        <p:nvSpPr>
          <p:cNvPr id="9" name="Name"/>
          <p:cNvSpPr/>
          <p:nvPr/>
        </p:nvSpPr>
        <p:spPr>
          <a:xfrm>
            <a:off x="914400" y="6562725"/>
            <a:ext cx="164592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Lavanya Ramavath</a:t>
            </a:r>
            <a:endParaRPr lang="en-US" sz="3300" b="1" dirty="0"/>
          </a:p>
        </p:txBody>
      </p:sp>
      <p:sp>
        <p:nvSpPr>
          <p:cNvPr id="10" name="Company"/>
          <p:cNvSpPr/>
          <p:nvPr/>
        </p:nvSpPr>
        <p:spPr>
          <a:xfrm>
            <a:off x="914400" y="7305675"/>
            <a:ext cx="164592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Zidio Development</a:t>
            </a:r>
            <a:endParaRPr lang="en-US" sz="2000" b="1" dirty="0"/>
          </a:p>
        </p:txBody>
      </p:sp>
      <p:sp>
        <p:nvSpPr>
          <p:cNvPr id="11" name="Footer"/>
          <p:cNvSpPr/>
          <p:nvPr/>
        </p:nvSpPr>
        <p:spPr>
          <a:xfrm>
            <a:off x="914400" y="9601200"/>
            <a:ext cx="164592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Masai School × IIT Patna · AIML Program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2460a378-3ded-4a86-9dc4-e840969e6cd9</dc:title>
  <dc:subject>Presentation Export</dc:subject>
  <dc:creator>Design Export</dc:creator>
  <cp:lastModifiedBy>Design Export</cp:lastModifiedBy>
  <cp:revision>1</cp:revision>
  <dcterms:created xsi:type="dcterms:W3CDTF">2026-09-26T07:37:28Z</dcterms:created>
  <dcterms:modified xsi:type="dcterms:W3CDTF">2026-09-26T07:37:28Z</dcterms:modified>
</cp:coreProperties>
</file>